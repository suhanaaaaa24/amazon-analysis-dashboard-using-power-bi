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Lakh)</c:v>
                </c:pt>
              </c:strCache>
            </c:strRef>
          </c:tx>
          <c:spPr>
            <a:solidFill>
              <a:srgbClr val="FF9900"/>
            </a:solidFill>
            <a:ln w="28575" cap="flat">
              <a:solidFill>
                <a:srgbClr val="FF9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F3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Jan23</c:v>
                  </c:pt>
                  <c:pt idx="1">
                    <c:v>Feb23</c:v>
                  </c:pt>
                  <c:pt idx="2">
                    <c:v>Mar23</c:v>
                  </c:pt>
                  <c:pt idx="3">
                    <c:v>Apr23</c:v>
                  </c:pt>
                  <c:pt idx="4">
                    <c:v>May23</c:v>
                  </c:pt>
                  <c:pt idx="5">
                    <c:v>Jun23</c:v>
                  </c:pt>
                  <c:pt idx="6">
                    <c:v>Jul23</c:v>
                  </c:pt>
                  <c:pt idx="7">
                    <c:v>Aug23</c:v>
                  </c:pt>
                  <c:pt idx="8">
                    <c:v>Sep23</c:v>
                  </c:pt>
                  <c:pt idx="9">
                    <c:v>Oct23</c:v>
                  </c:pt>
                  <c:pt idx="10">
                    <c:v>Nov23</c:v>
                  </c:pt>
                  <c:pt idx="11">
                    <c:v>Dec23</c:v>
                  </c:pt>
                  <c:pt idx="12">
                    <c:v>Jan24</c:v>
                  </c:pt>
                  <c:pt idx="13">
                    <c:v>Feb24</c:v>
                  </c:pt>
                  <c:pt idx="14">
                    <c:v>Mar24</c:v>
                  </c:pt>
                  <c:pt idx="15">
                    <c:v>Apr24</c:v>
                  </c:pt>
                  <c:pt idx="16">
                    <c:v>May24</c:v>
                  </c:pt>
                  <c:pt idx="17">
                    <c:v>Jun24</c:v>
                  </c:pt>
                  <c:pt idx="18">
                    <c:v>Jul24</c:v>
                  </c:pt>
                  <c:pt idx="19">
                    <c:v>Aug24</c:v>
                  </c:pt>
                  <c:pt idx="20">
                    <c:v>Sep24</c:v>
                  </c:pt>
                  <c:pt idx="21">
                    <c:v>Oct24</c:v>
                  </c:pt>
                  <c:pt idx="22">
                    <c:v>Nov24</c:v>
                  </c:pt>
                  <c:pt idx="23">
                    <c:v>Dec24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27.1</c:v>
                </c:pt>
                <c:pt idx="1">
                  <c:v>25.4</c:v>
                </c:pt>
                <c:pt idx="2">
                  <c:v>27.7</c:v>
                </c:pt>
                <c:pt idx="3">
                  <c:v>32.5</c:v>
                </c:pt>
                <c:pt idx="4">
                  <c:v>24.7</c:v>
                </c:pt>
                <c:pt idx="5">
                  <c:v>26.9</c:v>
                </c:pt>
                <c:pt idx="6">
                  <c:v>24.9</c:v>
                </c:pt>
                <c:pt idx="7">
                  <c:v>29.9</c:v>
                </c:pt>
                <c:pt idx="8">
                  <c:v>27.7</c:v>
                </c:pt>
                <c:pt idx="9">
                  <c:v>20</c:v>
                </c:pt>
                <c:pt idx="10">
                  <c:v>26.4</c:v>
                </c:pt>
                <c:pt idx="11">
                  <c:v>27.2</c:v>
                </c:pt>
                <c:pt idx="12">
                  <c:v>26.4</c:v>
                </c:pt>
                <c:pt idx="13">
                  <c:v>21.8</c:v>
                </c:pt>
                <c:pt idx="14">
                  <c:v>30.6</c:v>
                </c:pt>
                <c:pt idx="15">
                  <c:v>26.9</c:v>
                </c:pt>
                <c:pt idx="16">
                  <c:v>23</c:v>
                </c:pt>
                <c:pt idx="17">
                  <c:v>26.5</c:v>
                </c:pt>
                <c:pt idx="18">
                  <c:v>24.6</c:v>
                </c:pt>
                <c:pt idx="19">
                  <c:v>27.7</c:v>
                </c:pt>
                <c:pt idx="20">
                  <c:v>21.3</c:v>
                </c:pt>
                <c:pt idx="21">
                  <c:v>28.6</c:v>
                </c:pt>
                <c:pt idx="22">
                  <c:v>26.6</c:v>
                </c:pt>
                <c:pt idx="23">
                  <c:v>24.5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2F3E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32F3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B7A9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AA5B1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7B2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7A8B9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Credit Card</c:v>
                </c:pt>
                <c:pt idx="1">
                  <c:v>Debit Card</c:v>
                </c:pt>
                <c:pt idx="2">
                  <c:v>Cash on Delivery</c:v>
                </c:pt>
                <c:pt idx="3">
                  <c:v>Net Banking</c:v>
                </c:pt>
                <c:pt idx="4">
                  <c:v>Amazon Pay</c:v>
                </c:pt>
                <c:pt idx="5">
                  <c:v>UPI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108.5</c:v>
                </c:pt>
                <c:pt idx="1">
                  <c:v>106.8</c:v>
                </c:pt>
                <c:pt idx="2">
                  <c:v>104.7</c:v>
                </c:pt>
                <c:pt idx="3">
                  <c:v>103.1</c:v>
                </c:pt>
                <c:pt idx="4">
                  <c:v>100.1</c:v>
                </c:pt>
                <c:pt idx="5">
                  <c:v>93.5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1B1F2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2F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</c:v>
                  </c:pt>
                  <c:pt idx="1">
                    <c:v>West</c:v>
                  </c:pt>
                  <c:pt idx="2">
                    <c:v>East</c:v>
                  </c:pt>
                  <c:pt idx="3">
                    <c:v>North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129.2</c:v>
                </c:pt>
                <c:pt idx="1">
                  <c:v>124.2</c:v>
                </c:pt>
                <c:pt idx="2">
                  <c:v>123.5</c:v>
                </c:pt>
                <c:pt idx="3">
                  <c:v>118.6</c:v>
                </c:pt>
                <c:pt idx="4">
                  <c:v>112.8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32F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32F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Books</c:v>
                  </c:pt>
                  <c:pt idx="1">
                    <c:v>Grocery &amp; Gourmet</c:v>
                  </c:pt>
                  <c:pt idx="2">
                    <c:v>Office Products</c:v>
                  </c:pt>
                  <c:pt idx="3">
                    <c:v>Beauty &amp; Personal Care</c:v>
                  </c:pt>
                  <c:pt idx="4">
                    <c:v>Toys &amp; Games</c:v>
                  </c:pt>
                  <c:pt idx="5">
                    <c:v>Clothing</c:v>
                  </c:pt>
                  <c:pt idx="6">
                    <c:v>Sports &amp; Fitness</c:v>
                  </c:pt>
                  <c:pt idx="7">
                    <c:v>Home &amp; Kitchen</c:v>
                  </c:pt>
                  <c:pt idx="8">
                    <c:v>Electronics</c:v>
                  </c:pt>
                  <c:pt idx="9">
                    <c:v>Furniture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15.9</c:v>
                </c:pt>
                <c:pt idx="1">
                  <c:v>16.1</c:v>
                </c:pt>
                <c:pt idx="2">
                  <c:v>16.4</c:v>
                </c:pt>
                <c:pt idx="3">
                  <c:v>33</c:v>
                </c:pt>
                <c:pt idx="4">
                  <c:v>33.9</c:v>
                </c:pt>
                <c:pt idx="5">
                  <c:v>42.2</c:v>
                </c:pt>
                <c:pt idx="6">
                  <c:v>61.7</c:v>
                </c:pt>
                <c:pt idx="7">
                  <c:v>87.5</c:v>
                </c:pt>
                <c:pt idx="8">
                  <c:v>107.5</c:v>
                </c:pt>
                <c:pt idx="9">
                  <c:v>214.9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232F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2F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Study Table</c:v>
                  </c:pt>
                  <c:pt idx="1">
                    <c:v>Bedside Table</c:v>
                  </c:pt>
                  <c:pt idx="2">
                    <c:v>Bookshelf</c:v>
                  </c:pt>
                  <c:pt idx="3">
                    <c:v>Office Chair</c:v>
                  </c:pt>
                  <c:pt idx="4">
                    <c:v>Bean Bag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55.3</c:v>
                </c:pt>
                <c:pt idx="1">
                  <c:v>47.8</c:v>
                </c:pt>
                <c:pt idx="2">
                  <c:v>40.6</c:v>
                </c:pt>
                <c:pt idx="3">
                  <c:v>38.6</c:v>
                </c:pt>
                <c:pt idx="4">
                  <c:v>32.7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232F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5B7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Sports &amp; Fitness</c:v>
                  </c:pt>
                  <c:pt idx="1">
                    <c:v>Toys &amp; Games</c:v>
                  </c:pt>
                  <c:pt idx="2">
                    <c:v>Home &amp; Kitchen</c:v>
                  </c:pt>
                  <c:pt idx="3">
                    <c:v>Grocery &amp; Gourmet</c:v>
                  </c:pt>
                  <c:pt idx="4">
                    <c:v>Electronics</c:v>
                  </c:pt>
                  <c:pt idx="5">
                    <c:v>Books</c:v>
                  </c:pt>
                  <c:pt idx="6">
                    <c:v>Office Products</c:v>
                  </c:pt>
                  <c:pt idx="7">
                    <c:v>Beauty &amp; Personal Care</c:v>
                  </c:pt>
                  <c:pt idx="8">
                    <c:v>Clothing</c:v>
                  </c:pt>
                  <c:pt idx="9">
                    <c:v>Furniture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3418</c:v>
                </c:pt>
                <c:pt idx="1">
                  <c:v>3189</c:v>
                </c:pt>
                <c:pt idx="2">
                  <c:v>3187</c:v>
                </c:pt>
                <c:pt idx="3">
                  <c:v>3151</c:v>
                </c:pt>
                <c:pt idx="4">
                  <c:v>3131</c:v>
                </c:pt>
                <c:pt idx="5">
                  <c:v>3121</c:v>
                </c:pt>
                <c:pt idx="6">
                  <c:v>3102</c:v>
                </c:pt>
                <c:pt idx="7">
                  <c:v>3068</c:v>
                </c:pt>
                <c:pt idx="8">
                  <c:v>3004</c:v>
                </c:pt>
                <c:pt idx="9">
                  <c:v>2973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 rot="1800000"/>
          <a:lstStyle/>
          <a:p>
            <a:pPr>
              <a:defRPr sz="6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2F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</c:v>
                  </c:pt>
                  <c:pt idx="1">
                    <c:v>West</c:v>
                  </c:pt>
                  <c:pt idx="2">
                    <c:v>North</c:v>
                  </c:pt>
                  <c:pt idx="3">
                    <c:v>East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1189</c:v>
                </c:pt>
                <c:pt idx="1">
                  <c:v>1137</c:v>
                </c:pt>
                <c:pt idx="2">
                  <c:v>1116</c:v>
                </c:pt>
                <c:pt idx="3">
                  <c:v>1111</c:v>
                </c:pt>
                <c:pt idx="4">
                  <c:v>1092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32F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32F3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B7A9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AA5B1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7B2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South</c:v>
                </c:pt>
                <c:pt idx="1">
                  <c:v>West</c:v>
                </c:pt>
                <c:pt idx="2">
                  <c:v>East</c:v>
                </c:pt>
                <c:pt idx="3">
                  <c:v>North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129.2</c:v>
                </c:pt>
                <c:pt idx="1">
                  <c:v>124.2</c:v>
                </c:pt>
                <c:pt idx="2">
                  <c:v>123.5</c:v>
                </c:pt>
                <c:pt idx="3">
                  <c:v>118.6</c:v>
                </c:pt>
                <c:pt idx="4">
                  <c:v>112.8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B1F2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32F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2F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Cash on Delivery</c:v>
                  </c:pt>
                  <c:pt idx="1">
                    <c:v>Net Banking</c:v>
                  </c:pt>
                  <c:pt idx="2">
                    <c:v>Amazon Pay</c:v>
                  </c:pt>
                  <c:pt idx="3">
                    <c:v>Credit Card</c:v>
                  </c:pt>
                  <c:pt idx="4">
                    <c:v>Debit Card</c:v>
                  </c:pt>
                  <c:pt idx="5">
                    <c:v>UPI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998</c:v>
                </c:pt>
                <c:pt idx="1">
                  <c:v>993</c:v>
                </c:pt>
                <c:pt idx="2">
                  <c:v>941</c:v>
                </c:pt>
                <c:pt idx="3">
                  <c:v>941</c:v>
                </c:pt>
                <c:pt idx="4">
                  <c:v>923</c:v>
                </c:pt>
                <c:pt idx="5">
                  <c:v>908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32F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4E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1F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640080"/>
            <a:ext cx="2743200" cy="2743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Amazon Sales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Calculated Columns · DAX Measures · 3-Page Interactive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892040"/>
            <a:ext cx="29260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Anusha Haridas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5413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 · Technical Trainer — Python, Data Analysis &amp; Data Science  |  Bengaluru,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2382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2238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819656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9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41732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Insight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1732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 and the business question it answers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2990088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417320" y="2889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6,000-row, 10-column Amazon-style sales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4160520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41732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1732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steps to fix nulls, duplicates &amp; inconsistent 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5330952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417320" y="5230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17320" y="5586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derived inside the data 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556248" y="1819656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8" name="Text 26"/>
          <p:cNvSpPr/>
          <p:nvPr/>
        </p:nvSpPr>
        <p:spPr>
          <a:xfrm>
            <a:off x="6556248" y="1819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726948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26948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calculations that power every visual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32" name="Shape 30"/>
          <p:cNvSpPr/>
          <p:nvPr/>
        </p:nvSpPr>
        <p:spPr>
          <a:xfrm>
            <a:off x="6556248" y="2990088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3" name="Text 31"/>
          <p:cNvSpPr/>
          <p:nvPr/>
        </p:nvSpPr>
        <p:spPr>
          <a:xfrm>
            <a:off x="6556248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7269480" y="2889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Specifications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26948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chart, which fields, which question it answers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5508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37" name="Shape 35"/>
          <p:cNvSpPr/>
          <p:nvPr/>
        </p:nvSpPr>
        <p:spPr>
          <a:xfrm>
            <a:off x="6556248" y="4160520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8" name="Text 36"/>
          <p:cNvSpPr/>
          <p:nvPr/>
        </p:nvSpPr>
        <p:spPr>
          <a:xfrm>
            <a:off x="655624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60" dirty="0"/>
          </a:p>
        </p:txBody>
      </p:sp>
      <p:sp>
        <p:nvSpPr>
          <p:cNvPr id="39" name="Text 37"/>
          <p:cNvSpPr/>
          <p:nvPr/>
        </p:nvSpPr>
        <p:spPr>
          <a:xfrm>
            <a:off x="726948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 Layout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26948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 · Product Analysis · Regional &amp; Customer View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7F7F5"/>
          </a:solidFill>
          <a:ln/>
        </p:spPr>
      </p:sp>
      <p:sp>
        <p:nvSpPr>
          <p:cNvPr id="42" name="Shape 40"/>
          <p:cNvSpPr/>
          <p:nvPr/>
        </p:nvSpPr>
        <p:spPr>
          <a:xfrm>
            <a:off x="6556248" y="5330952"/>
            <a:ext cx="548640" cy="54864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43" name="Text 41"/>
          <p:cNvSpPr/>
          <p:nvPr/>
        </p:nvSpPr>
        <p:spPr>
          <a:xfrm>
            <a:off x="6556248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60" dirty="0"/>
          </a:p>
        </p:txBody>
      </p:sp>
      <p:sp>
        <p:nvSpPr>
          <p:cNvPr id="44" name="Text 42"/>
          <p:cNvSpPr/>
          <p:nvPr/>
        </p:nvSpPr>
        <p:spPr>
          <a:xfrm>
            <a:off x="7269480" y="5230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269480" y="5586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actually tell us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 &amp; Business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6720840" cy="4434840"/>
          </a:xfrm>
          <a:prstGeom prst="roundRect">
            <a:avLst>
              <a:gd name="adj" fmla="val 2062"/>
            </a:avLst>
          </a:prstGeom>
          <a:solidFill>
            <a:srgbClr val="F7F7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3-page Power BI dashboard on Amazon-style order data that lets a business user move from raw, messy transaction rows to a clean, trusted, interactive view of sales performance — without touching Excel formulas.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127248"/>
            <a:ext cx="6172200" cy="0"/>
          </a:xfrm>
          <a:prstGeom prst="line">
            <a:avLst/>
          </a:prstGeom>
          <a:noFill/>
          <a:ln w="12700">
            <a:solidFill>
              <a:srgbClr val="E2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63931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32" dirty="0"/>
          </a:p>
        </p:txBody>
      </p:sp>
      <p:sp>
        <p:nvSpPr>
          <p:cNvPr id="13" name="Text 11"/>
          <p:cNvSpPr/>
          <p:nvPr/>
        </p:nvSpPr>
        <p:spPr>
          <a:xfrm>
            <a:off x="1234440" y="358444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and products drive the most revenue?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4223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32" dirty="0"/>
          </a:p>
        </p:txBody>
      </p:sp>
      <p:sp>
        <p:nvSpPr>
          <p:cNvPr id="16" name="Text 14"/>
          <p:cNvSpPr/>
          <p:nvPr/>
        </p:nvSpPr>
        <p:spPr>
          <a:xfrm>
            <a:off x="1234440" y="40873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sales performance trend month over month?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4515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32" dirty="0"/>
          </a:p>
        </p:txBody>
      </p:sp>
      <p:sp>
        <p:nvSpPr>
          <p:cNvPr id="19" name="Text 17"/>
          <p:cNvSpPr/>
          <p:nvPr/>
        </p:nvSpPr>
        <p:spPr>
          <a:xfrm>
            <a:off x="1234440" y="459028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and payment methods should we prioritize?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5148072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32" dirty="0"/>
          </a:p>
        </p:txBody>
      </p:sp>
      <p:sp>
        <p:nvSpPr>
          <p:cNvPr id="22" name="Text 20"/>
          <p:cNvSpPr/>
          <p:nvPr/>
        </p:nvSpPr>
        <p:spPr>
          <a:xfrm>
            <a:off x="1234440" y="50932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our raw data is unreliable — and does it change the answer?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52360" y="1600200"/>
            <a:ext cx="4251960" cy="4434840"/>
          </a:xfrm>
          <a:prstGeom prst="roundRect">
            <a:avLst>
              <a:gd name="adj" fmla="val 2151"/>
            </a:avLst>
          </a:prstGeom>
          <a:solidFill>
            <a:srgbClr val="232F3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18745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841248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Insight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26680" y="254203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₹6.29 Cr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726680" y="32461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clean sales across 5,820 valid orders — after removing 180 duplicate rows and 508 incomplete rows from the raw 6,000-row extract.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26680" y="4434840"/>
            <a:ext cx="3657600" cy="0"/>
          </a:xfrm>
          <a:prstGeom prst="line">
            <a:avLst/>
          </a:prstGeom>
          <a:noFill/>
          <a:ln w="19050">
            <a:solidFill>
              <a:srgbClr val="374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4617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is the #1 category by revenue (₹2.15 Cr) despite ranking last in units sold — a high-value, low-volume product line.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amazon_sales_dashboard_data.csv  ·  6,000 rows  ×  10 columns  ·  Jan 2023 – Dec 2024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01952"/>
          <a:ext cx="7635240" cy="448056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4709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 identifier (e.g. AMZ100243)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the order was placed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(10 categories)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product ordered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purchased in the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 in 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× Price (raw, pre-cleaning)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/ South / East / West / Central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full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Card, UPI, COD, etc.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366760" y="1901952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7F7F5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0" y="2084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Snapshot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95360" y="25420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95360" y="2999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95360" y="39319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0" y="44074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508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595360" y="48646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values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95360" y="53400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E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5,820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595360" y="579729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unique orders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Cleaning in Power Query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steps applied, in order, inside Power Query Editor before loading to the data model: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" y="2066544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9032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Headers &amp; Set Types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99032" y="23225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 → headers; set Order_Date to Date, Quantity/Price/Sales to Decimal Number.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" y="312724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" y="3127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9032" y="3072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&amp; Clean Text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99032" y="338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Region — removes leading/trailing spaces (" North", "South ") picked up at source.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" y="4187952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" y="4187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99032" y="4133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99032" y="4443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&gt; Capitalize Each Word on Region so "north", "NORTH", "North" all merge into one value.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0292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" y="52486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" y="52486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99032" y="51937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Rows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99032" y="5504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&gt; Remove Duplicates across all columns — removed 180 exact duplicate order rows.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30936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437376" y="2066544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2066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05472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05472" y="23225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Filtered/flagged blanks in Region, Payment_Method, Customer_Name, Price &amp; Quantity (508 rows) rather than silently guessing.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30936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7376" y="312724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34" name="Text 32"/>
          <p:cNvSpPr/>
          <p:nvPr/>
        </p:nvSpPr>
        <p:spPr>
          <a:xfrm>
            <a:off x="6437376" y="3127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05472" y="3072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 Rows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205472" y="3383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where Quantity ≤ 0 — data-entry errors that would distort revenue totals.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30936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7376" y="4187952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39" name="Text 37"/>
          <p:cNvSpPr/>
          <p:nvPr/>
        </p:nvSpPr>
        <p:spPr>
          <a:xfrm>
            <a:off x="6437376" y="41879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05472" y="4133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Sales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205472" y="44439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raw Sales column with a calculated column so every row is internally consistent.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30936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437376" y="52486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/>
        </p:spPr>
      </p:sp>
      <p:sp>
        <p:nvSpPr>
          <p:cNvPr id="44" name="Text 42"/>
          <p:cNvSpPr/>
          <p:nvPr/>
        </p:nvSpPr>
        <p:spPr>
          <a:xfrm>
            <a:off x="6437376" y="52486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05472" y="51937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Load to Model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205472" y="55046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cleaned table into the Power BI data model for measures and visuals.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Calculated Columns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inside the Power BI data model (Table view &gt; New Column) — computed row-by-row and stored in the table.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01952"/>
          <a:ext cx="11201400" cy="4389120"/>
        </p:xfrm>
        <a:graphic>
          <a:graphicData uri="http://schemas.openxmlformats.org/drawingml/2006/table">
            <a:tbl>
              <a:tblPr/>
              <a:tblGrid>
                <a:gridCol w="1691640"/>
                <a:gridCol w="4480560"/>
                <a:gridCol w="5029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(Clean)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Sales = Amazon_Data[Quantity] * Amazon_Data[Price]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Guarantees revenue is always Quantity × Price, even if the source Sales cell was blank or wrong.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Month = FORMAT(Amazon_Data[Order_Date], "MMM YYYY")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label for slicers and axis grouping without altering the underlying date.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Year = YEAR(Amazon_Data[Order_Date])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year-over-year filters and visuals.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 Tier = IF(Amazon_Data[Price] &gt;= 3000, "Premium", IF(Amazon_Data[Price] &gt;= 1000, "Mid", "Budget"))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Buckets products into pricing segments for the Product Analysis page.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(Clean)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 Clean = TRIM(PROPER(Amazon_Data[Region]))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Model-level safety net so mismatched casing never reappears after refresh.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Weekend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E67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 Weekend = IF(WEEKDAY(Amazon_Data[Order_Date],2) &gt; 5, "Weekend", "Weekday")</a:t>
                      </a:r>
                      <a:endParaRPr lang="en-US" sz="9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weekend vs weekday orders for demand-pattern analysis.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DAX Measures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 Report view (Modeling &gt; New Measure) — calculated on the fly in the current filter context, used by every chart &amp; KPI card.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" y="2048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933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" y="2322576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SUM(Amazon_Data[Sales])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" y="3108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05409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" y="3383280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DISTINCTCOUNT(Amazon_Data[Order_ID])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" y="41696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1148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" y="4443984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SUM(Amazon_Data[Quantity])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0292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" y="52303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51755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" y="5504688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Sales], [Total Orders])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309360" y="1920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455664" y="20482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55664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19933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55664" y="2322576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DISTINCTCOUNT(Amazon_Data[Customer_Name])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309360" y="29809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455664" y="3108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6455664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05409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MoM % Change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55664" y="3383280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Sales] - CALCULATE([Total Sales], DATEADD(Amazon_Data[Order_Date], -1, MONTH)), CALCULATE([Total Sales], DATEADD(Amazon_Data[Order_Date], -1, MONTH)))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309360" y="404164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38" name="Shape 36"/>
          <p:cNvSpPr/>
          <p:nvPr/>
        </p:nvSpPr>
        <p:spPr>
          <a:xfrm>
            <a:off x="6455664" y="41696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55664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41148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Sales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55664" y="4443984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CALCULATE([Total Sales], TOPN(1, VALUES(Amazon_Data[Category]), [Total Sales]))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6309360" y="510235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455664" y="52303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9900"/>
          </a:solidFill>
          <a:ln/>
        </p:spPr>
      </p:sp>
      <p:sp>
        <p:nvSpPr>
          <p:cNvPr id="44" name="Text 42"/>
          <p:cNvSpPr/>
          <p:nvPr/>
        </p:nvSpPr>
        <p:spPr>
          <a:xfrm>
            <a:off x="6455664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51755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Sales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55664" y="5504688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67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Sales], CALCULATE([Total Sales], ALL(Amazon_Data)))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Chart Specifications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visual is scoped to one clear question — mapped to the dashboard page it appears on.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11201400" cy="429768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  <a:gridCol w="3566160"/>
                <a:gridCol w="4709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Month (axis) × Total Sales (value)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revenue trending up or down over time?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 (legend)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payment method contributes most revenue?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(axis)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region sells the most, at a glance?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(axis)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categories drive revenue?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 (Top 5) × 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our five best-selling products?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× Total 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does volume differ from revenue?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× Total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region places the most orders (not just ₹)?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× Total Sales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% share does each region hold?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 × Total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payment method is used most often?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194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Overview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34072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933688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0" name="Text 8"/>
          <p:cNvSpPr/>
          <p:nvPr/>
        </p:nvSpPr>
        <p:spPr>
          <a:xfrm>
            <a:off x="8933688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433304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3304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Customer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078992"/>
            <a:ext cx="54864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₹6.29 Cr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078992"/>
            <a:ext cx="54864" cy="868680"/>
          </a:xfrm>
          <a:prstGeom prst="rect">
            <a:avLst/>
          </a:prstGeom>
          <a:solidFill>
            <a:srgbClr val="5B7A9E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5,820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4728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78992"/>
            <a:ext cx="54864" cy="868680"/>
          </a:xfrm>
          <a:prstGeom prst="rect">
            <a:avLst/>
          </a:prstGeom>
          <a:solidFill>
            <a:srgbClr val="C97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₹11,029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764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107899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1078992"/>
            <a:ext cx="54864" cy="868680"/>
          </a:xfrm>
          <a:prstGeom prst="rect">
            <a:avLst/>
          </a:prstGeom>
          <a:solidFill>
            <a:srgbClr val="7A8B99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008" y="1170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31,344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08008" y="1627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03120"/>
            <a:ext cx="7178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 (₹ Lakh)</a:t>
            </a:r>
            <a:endParaRPr lang="en-US" sz="11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57200" y="2487168"/>
          <a:ext cx="69951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7680960" y="2103120"/>
            <a:ext cx="41422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82128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Payment Method</a:t>
            </a:r>
            <a:endParaRPr lang="en-US" sz="115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7772400" y="2432304"/>
          <a:ext cx="2331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Shape 31"/>
          <p:cNvSpPr/>
          <p:nvPr/>
        </p:nvSpPr>
        <p:spPr>
          <a:xfrm>
            <a:off x="365760" y="4572000"/>
            <a:ext cx="114574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 (₹ Lakh)</a:t>
            </a:r>
            <a:endParaRPr lang="en-US" sz="1150" dirty="0"/>
          </a:p>
        </p:txBody>
      </p:sp>
      <p:graphicFrame>
        <p:nvGraphicFramePr>
          <p:cNvPr id="37" name="Chart 2" descr=""/>
          <p:cNvGraphicFramePr/>
          <p:nvPr/>
        </p:nvGraphicFramePr>
        <p:xfrm>
          <a:off x="502920" y="4956048"/>
          <a:ext cx="11201400" cy="144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194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&amp; Category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34072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933688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8933688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433304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3304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Customer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078992"/>
            <a:ext cx="54864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078992"/>
            <a:ext cx="54864" cy="868680"/>
          </a:xfrm>
          <a:prstGeom prst="rect">
            <a:avLst/>
          </a:prstGeom>
          <a:solidFill>
            <a:srgbClr val="5B7A9E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4728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78992"/>
            <a:ext cx="54864" cy="868680"/>
          </a:xfrm>
          <a:prstGeom prst="rect">
            <a:avLst/>
          </a:prstGeom>
          <a:solidFill>
            <a:srgbClr val="C97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Furniture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764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107899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1078992"/>
            <a:ext cx="54864" cy="868680"/>
          </a:xfrm>
          <a:prstGeom prst="rect">
            <a:avLst/>
          </a:prstGeom>
          <a:solidFill>
            <a:srgbClr val="7A8B99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008" y="1170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Study Table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08008" y="1627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03120"/>
            <a:ext cx="56235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 (₹ Lakh)</a:t>
            </a:r>
            <a:endParaRPr lang="en-US" sz="11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57200" y="2487168"/>
          <a:ext cx="5394960" cy="3913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6199632" y="2103120"/>
            <a:ext cx="56235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Sales  (₹ Lakh)</a:t>
            </a:r>
            <a:endParaRPr lang="en-US" sz="115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6309360" y="2487168"/>
          <a:ext cx="53949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Shape 31"/>
          <p:cNvSpPr/>
          <p:nvPr/>
        </p:nvSpPr>
        <p:spPr>
          <a:xfrm>
            <a:off x="6199632" y="434340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400800" y="4453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Category</a:t>
            </a:r>
            <a:endParaRPr lang="en-US" sz="1150" dirty="0"/>
          </a:p>
        </p:txBody>
      </p:sp>
      <p:graphicFrame>
        <p:nvGraphicFramePr>
          <p:cNvPr id="37" name="Chart 2" descr=""/>
          <p:cNvGraphicFramePr/>
          <p:nvPr/>
        </p:nvGraphicFramePr>
        <p:xfrm>
          <a:off x="6309360" y="4718304"/>
          <a:ext cx="5394960" cy="17007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194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Regional &amp; Customer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34072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933688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37475A"/>
          </a:solidFill>
          <a:ln/>
        </p:spPr>
      </p:sp>
      <p:sp>
        <p:nvSpPr>
          <p:cNvPr id="10" name="Text 8"/>
          <p:cNvSpPr/>
          <p:nvPr/>
        </p:nvSpPr>
        <p:spPr>
          <a:xfrm>
            <a:off x="8933688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433304" y="30175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33304" y="30175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Customer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078992"/>
            <a:ext cx="54864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078992"/>
            <a:ext cx="54864" cy="868680"/>
          </a:xfrm>
          <a:prstGeom prst="rect">
            <a:avLst/>
          </a:prstGeom>
          <a:solidFill>
            <a:srgbClr val="5B7A9E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28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4728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78992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78992"/>
            <a:ext cx="54864" cy="868680"/>
          </a:xfrm>
          <a:prstGeom prst="rect">
            <a:avLst/>
          </a:prstGeom>
          <a:solidFill>
            <a:srgbClr val="C97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South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764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1078992"/>
            <a:ext cx="2816352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9006840" y="1078992"/>
            <a:ext cx="54864" cy="868680"/>
          </a:xfrm>
          <a:prstGeom prst="rect">
            <a:avLst/>
          </a:prstGeom>
          <a:solidFill>
            <a:srgbClr val="7A8B99"/>
          </a:solidFill>
          <a:ln/>
        </p:spPr>
      </p:sp>
      <p:sp>
        <p:nvSpPr>
          <p:cNvPr id="27" name="Text 25"/>
          <p:cNvSpPr/>
          <p:nvPr/>
        </p:nvSpPr>
        <p:spPr>
          <a:xfrm>
            <a:off x="9208008" y="1170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₹2,220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08008" y="1627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CUSTOMER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0312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Region</a:t>
            </a:r>
            <a:endParaRPr lang="en-US" sz="11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57200" y="2487168"/>
          <a:ext cx="5394960" cy="18470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6199632" y="210312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Share</a:t>
            </a:r>
            <a:endParaRPr lang="en-US" sz="115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7406640" y="2423160"/>
          <a:ext cx="26517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Shape 31"/>
          <p:cNvSpPr/>
          <p:nvPr/>
        </p:nvSpPr>
        <p:spPr>
          <a:xfrm>
            <a:off x="365760" y="4572000"/>
            <a:ext cx="114574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Payment Method</a:t>
            </a:r>
            <a:endParaRPr lang="en-US" sz="1150" dirty="0"/>
          </a:p>
        </p:txBody>
      </p:sp>
      <p:graphicFrame>
        <p:nvGraphicFramePr>
          <p:cNvPr id="37" name="Chart 2" descr=""/>
          <p:cNvGraphicFramePr/>
          <p:nvPr/>
        </p:nvGraphicFramePr>
        <p:xfrm>
          <a:off x="502920" y="4956048"/>
          <a:ext cx="11201400" cy="144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421331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4213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0" cy="0"/>
          </a:xfrm>
          <a:prstGeom prst="lin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leads on revenue, not volume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243230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earns ₹2.15 Cr (34% of total sales) from just 2,973 units — the lowest unit count of any category. High average selling price, not order count, drives this category.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624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18288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region dominates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11112" y="243230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evenly spread: South leads at ₹1.29 Cr but trails Central (last place) by only 13%. Regional strategy should focus on category mix, not broad regional pushes.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still lead, but the gap is narrowing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8952" y="458114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(₹1.08 Cr) and Debit Card (₹1.07 Cr) top the list, but UPI — the newest method — already accounts for ₹93.5 L, showing fast digital-payment adoption.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55080" y="379476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7F7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55624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39776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raw data was unusable before cleaning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611112" y="4581144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duplicate rows + 508 rows with missing Region, Payment Method, Customer, Price or Quantity had to be resolved in Power Query — without this step, revenue totals would have been overstated.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Dashboard  |  Power BI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3840480" cy="38404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Rows to a Trusted Dashboard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Power Query cleanup — deduping, trimming, standardizing case and filtering invalid rows — turned a noisy 6,000-row export into 5,820 trustworthy orders. Calculated columns and DAX measures then made every KPI and chart consistent across all three dashboard pages.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932688" y="37764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Furniture &amp; Electronics — highest revenue per unit sold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932688" y="42793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October dip (both years) for seasonality or stock issues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84632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932688" y="47823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UPI/Amazon Pay to shift customers off higher-friction COD orders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349240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932688" y="52852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Power Query cleaning steps so every data refresh stays trustworthy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8288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37475A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256032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6,000-row source CSV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310896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2990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Power Query model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365760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8394192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calculated columns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20624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4087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DAX measures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38160" y="475488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4636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 across 3 pages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530352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8394192" y="5184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summary deck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 Haridas  ·  L&amp;D / Technical Trainer  ·  Bengaluru, India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2026-09-17T04:11:54Z</dcterms:created>
  <dcterms:modified xsi:type="dcterms:W3CDTF">2026-09-17T04:11:54Z</dcterms:modified>
</cp:coreProperties>
</file>